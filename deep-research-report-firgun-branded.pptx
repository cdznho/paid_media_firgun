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62179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589520" y="768096"/>
            <a:ext cx="3840480" cy="5212080"/>
          </a:xfrm>
          <a:prstGeom prst="rect">
            <a:avLst/>
          </a:prstGeom>
          <a:solidFill>
            <a:srgbClr val="E1DDD4"/>
          </a:solidFill>
          <a:ln w="12700">
            <a:solidFill>
              <a:srgbClr val="E1DDD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36224" y="950976"/>
            <a:ext cx="77724" cy="77724"/>
          </a:xfrm>
          <a:prstGeom prst="ellipse">
            <a:avLst/>
          </a:prstGeom>
          <a:solidFill>
            <a:srgbClr val="4B5F4C">
              <a:alpha val="3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950976"/>
            <a:ext cx="77724" cy="77724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92256" y="950976"/>
            <a:ext cx="77724" cy="77724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20272" y="950976"/>
            <a:ext cx="77724" cy="77724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36224" y="1078992"/>
            <a:ext cx="77724" cy="77724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0" y="1078992"/>
            <a:ext cx="77724" cy="77724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92256" y="1078992"/>
            <a:ext cx="77724" cy="77724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20272" y="1078992"/>
            <a:ext cx="77724" cy="77724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36224" y="1207008"/>
            <a:ext cx="77724" cy="77724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0" y="1207008"/>
            <a:ext cx="77724" cy="77724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92256" y="1207008"/>
            <a:ext cx="77724" cy="77724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20272" y="1207008"/>
            <a:ext cx="77724" cy="77724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36224" y="1335024"/>
            <a:ext cx="77724" cy="77724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0" y="1335024"/>
            <a:ext cx="77724" cy="77724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1335024"/>
            <a:ext cx="77724" cy="77724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320272" y="1335024"/>
            <a:ext cx="77724" cy="77724"/>
          </a:xfrm>
          <a:prstGeom prst="ellipse">
            <a:avLst/>
          </a:prstGeom>
          <a:solidFill>
            <a:srgbClr val="4B5F4C">
              <a:alpha val="1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36224" y="1463040"/>
            <a:ext cx="77724" cy="77724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4240" y="1463040"/>
            <a:ext cx="77724" cy="77724"/>
          </a:xfrm>
          <a:prstGeom prst="ellipse">
            <a:avLst/>
          </a:prstGeom>
          <a:solidFill>
            <a:srgbClr val="4B5F4C">
              <a:alpha val="1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192256" y="1463040"/>
            <a:ext cx="77724" cy="77724"/>
          </a:xfrm>
          <a:prstGeom prst="ellipse">
            <a:avLst/>
          </a:prstGeom>
          <a:solidFill>
            <a:srgbClr val="4B5F4C">
              <a:alpha val="1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320272" y="1463040"/>
            <a:ext cx="77724" cy="77724"/>
          </a:xfrm>
          <a:prstGeom prst="ellipse">
            <a:avLst/>
          </a:prstGeom>
          <a:solidFill>
            <a:srgbClr val="4B5F4C">
              <a:alpha val="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01000" y="1243584"/>
            <a:ext cx="2816352" cy="4251960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47304" y="1444752"/>
            <a:ext cx="73152" cy="3849624"/>
          </a:xfrm>
          <a:prstGeom prst="rect">
            <a:avLst/>
          </a:prstGeom>
          <a:solidFill>
            <a:srgbClr val="0C0C0C"/>
          </a:solidFill>
          <a:ln w="12700">
            <a:solidFill>
              <a:srgbClr val="0C0C0C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1335024"/>
            <a:ext cx="5989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media strategy for Firgun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731520" y="1060704"/>
            <a:ext cx="256032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27432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Research report reformatted for presentation use and aligned to the Firgun visual identity system.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731520" y="616305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 file: deep-research-report.md</a:t>
            </a:r>
            <a:endParaRPr lang="en-US" sz="820" dirty="0"/>
          </a:p>
        </p:txBody>
      </p:sp>
      <p:sp>
        <p:nvSpPr>
          <p:cNvPr id="37" name="Text 35"/>
          <p:cNvSpPr/>
          <p:nvPr/>
        </p:nvSpPr>
        <p:spPr>
          <a:xfrm>
            <a:off x="8339328" y="1572768"/>
            <a:ext cx="2157984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b="1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Deck structure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Executive summary, funnel architecture, personas, channels, measurement, creative, and a 90-day launch plan.</a:t>
            </a:r>
            <a:endParaRPr lang="en-US" sz="1110" dirty="0"/>
          </a:p>
          <a:p>
            <a:pPr indent="0" marL="0">
              <a:buNone/>
            </a:pPr>
            <a:r>
              <a:rPr lang="en-US" sz="1110" b="1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Formatting choices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Research citations were removed from slide copy, and dense tables were split across multiple slides for readability.</a:t>
            </a:r>
            <a:endParaRPr lang="en-US" sz="11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summary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summary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is positioned as a London-based, quantum-first VC with a global mandate, focused on bridging the Series A/B scaling gap in quantum.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This is reflected in the site’s core positioning (Series A/B quantum scale-ups, “first call” for founders ready to scale) and assets already in place (podcast, newsletter, contact form, investor portal, legal and compliance disclosures).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Given the small, high-value, relationship-driven market for “quantum Series A/B”, paid media should be designed as precision demand-capture + credibility-building + event/community amplification, not broad demand generation.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global quantum ecosystem is measurable but still relatively concentrated (e.g., ~513 pure‑play quantum companies as of end‑2024 Europe &amp; Central Asia ~240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summary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North America ~204).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Executive summary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objectives and priority order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Recommended priority order (first 12 months, with first 90 days heavily front-loaded to #1–#3):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Brand credibility &amp; awareness → Dealflow (Series A/B founders) → Community building (podcast/newsletter/events) → Ecosystem partnerships → Talent hiring → LP acquisition (highly controlled / gated)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Rationale for the order: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Brand credibility is the prerequisite for paid efficiency in a technical market: founders and allocators will validate legitimacy before enquiring. Firgun’s site emphasises specialist Series A/B focus, advisors, and track record signals; paid should amplify these credibility cues.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Executive summary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objectives and priority order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Dealflow is the most directly monetisable “inbound” use case for paid (capture high-intent searches; retarget event/podcast visitors into founder enquiries), aligned with Firgun’s stated focus on scaling quantum ventures at Series A/B.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Community building is the cheapest flywheel: Firgun already runs a podcast and has an events/news pipeline; paid distribution increases reach and creates retargetable audiences.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LP acquisition is real but constrained: Firgun’s own legal page states the website content is directed at professional/institutional/sophisticated investors and is not an offer/solicitation; any LP-oriented paid must be tightly framed as corporate brand/insight distribution and/or gated investor access.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Executive summary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scenarios (no stated budget)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Because the addressable market is small, the best practice is start lean, cap frequency, and scale only when lead quality proves out.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Early (test &amp; instrument, months 1–3): £10k–£25k/month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Growth (scale proven plays, months 4–9): £25k–£60k/month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Scale (always-on + ABM + sponsorships, months 10–12+): £60k–£150k/month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These ranges assume you are optimising toward a small number of high-value conversions (qualified founder/allocator meetings), which typically requires higher spend to gather statistically meaningful conversion signals on some channels.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Objectives and funnel architecture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Objectives and funnel architecture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Firgun’s current site makes three things easy: (a) learn the thesis, (b) consume content (podcast), (c) submit an enquiry via a single contact form with a “Type” selector (Startup / LP / VC / Other).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It also has an investor portal referenced in the site navigation/legal terms.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Objectives and funnel architecture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paid media funnel model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Upper funnel (credibility + reach):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Promote “What Firgun is” (Series A/B quantum scaling specialist), proof points (team, advisors, track record), and thought leadership (podcast clips, conference appearances).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Mid funnel (education + intent building):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Drive warmed traffic to one of 3 dedicated landing page tracks (founders / LPs / ecosystem) rather than the generic homepage.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 content offers matched to audience intent (e.g., “Quantum Series A/B Scaling Checklist”, “Quantum market map”, “What good looks like for pilots/commercial traction”). Firgun already frames the market as transitioning toward commercial deployment and emphasises its benchmarking and mapping approach, which is a natural lead magnet angle.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Objectives and funnel architecture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Recommended paid media funnel model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Lower funnel (conversion to qualified conversation):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Convert to one of 3 primary actions: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Founder: “Request intro / send deck” (or “Book a 20-min fit call”)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LP: “Request investor materials” (gated; eligibility acknowledgement)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Partner: “Propose partnership / event / co-investigation”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Objectives and funnel architecture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Landing pages to add (highest leverage site work before scaling spend)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These are not “nice to have”: they reduce paid CPA via relevance and enable clean measurement.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/founders (Series A/B criteria + check size band + what Firgun helps with + process + proof)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/insights (podcast hub + newsletter archive + short “downloadable” assets)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/events (calendar + registration forms + post-event recap pages for retargeting pools)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/investors (strictly gated, professional investors only; connects to investor portal)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/careers (if hiring is a paid objective; the site currently links “Careers”)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 segmentation and personas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Audience segmentation and personas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quantum ecosystem is meaningfully sized but specialised.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 current “state of industry” snapshot (end‑2024) estimates 6,502 quantum-engaged organisations and 513 pure‑play quantum companies, with regional concentration: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Europe &amp; Central Asia (~240) and North America (~204).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This supports a strategy built around (a) narrow high-intent capture, (b) ABM lists, and (c) event/podcast-driven retargeting.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Audience segmentation and personas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Personas, sizes, intent signals, and channels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Planning sizes below are intentionally framed as TAM/SAM/SOM because “audience size” on paid platforms will differ by matchability (cookies/consent), available targeting facets, and language/geo constraints.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For quantum itself, the QED‑C industry snapshot also provides composition by category (e.g., hardware components ~37%, software ~15%, comms &amp; security ~15%, sensing &amp; imaging ~9%).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Audience segmentation and personas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Personas, sizes, intent signals, and channels (Rows 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Segment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Persona (decision-maker)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Planning audience size (global)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High-intent signals (what to target/retarget)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paid channels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Founders (primary)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Quantum Series A founder (CEO/CTO scaling from seed → A)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executives across ~513 pure-play firms; SAM: Series A/B-ready subset (assume ~10–20% of firms at any time = ~50–100 companies); SOM (90d): 20–40 target accounts in priority hubs.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Searches indicating fundraising/scale intent; visits to “thesis/portfolio/team”; engagement with podcasts/events; repeated sessions; downloads.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 (highest intent), LinkedIn, YouTube (credibility), programmatic ABM, retargeting (display/social)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Founders (secondary)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Quantum Seed founder (too early now, but future pipeline)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broader pure-play base; SAM: early-stage geos; SOM: build retargeting lists and newsletter subscribers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Searches for “seed quantum VC”; accelerator/incubator pages; job postings; content engagement; event registrations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YouTube, LinkedIn, Reddit (targeted communities), low-cost display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LPs (controlled)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Institutional allocator (Head of VC/PE, CIO alternatives)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thousands of institutions globally; SAM: institutional allocators focused on venture/deep tech; SOM (90d): 50–150 named accounts (ABM list). Firgun publicly states investor content is for professional/institutional/sophisticated investors only.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Consumption of “investor” pages (gated); engagement with earnings/allocations content; clicks from relevant conferences; time on legal/investor portal pages.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ABM, programmatic ABM, selective podcasts/events; minimal search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Audience segmentation and personas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Personas, sizes, intent signals, and channels (Rows 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Segment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Persona (decision-maker)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Planning audience size (global)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High-intent signals (what to target/retarget)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paid channels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LPs (secondary)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Single family office CIO/Principal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~8,030 single family offices worldwide (2024 estimate). SAM: those allocating to VC/deep tech.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Searches for “quantum investing”, “deep tech fund”; consumption of thought leadership; referrals from private bank / allocator media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ABM, programmatic, podcasts; limited Meta retargeting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Talent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Quantum investment associate / platform hire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quantum workforce signals include ~14,500+ pure-play workers and ~7,400+ quantum-related openings (2024) as a directional indicator of talent-market scale.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Visits to careers page; engagement with team/about; searches “venture capital quantum jobs”; LinkedIn profile signals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(jobs + sponsored), search (brand + job intent), retargeting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Ecosystem partners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Research institute / corporate innovation / ecosystem builder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TAM: thousands of partial-play organisations; QED‑C notes 5,989 partial-play orgs (end‑2024).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attendance; partnership enquiries; downloads; repeat visits; podcast engagement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LinkedIn, YouTube, events, programmatic niche placements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Audience segmentation and personas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Personas, sizes, intent signals, and channels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Geography priority for paid targeting (founders + ecosystem): Start where quantum density is highest (Europe &amp; Central Asia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North America) and where Firgun already signals activity (UK/EU/US/Canada selected hubs).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is not competing with “generic venture” for attention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it’s competing with quantum-specialist funds, deep-tech compute funds, and ecosystem builders for mindshare, inbound, and conference/podcast attention.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itself positions as filling a Series A/B gap where many quantum investors skew earlier-stage.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table below focuses on comparables that are either explicitly quantum-focused or credibly “next-gen compute/deep tech” with quantum messaging on their sites.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Table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 (Rows 1/3)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Comparable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paid media posture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Quantonation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Global early-stage fund investing in quantum / deep physics.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Mostly organic thought leadership + selective paid boosts around fund closes, reports, events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“New fund / portfolio news”, “download thesis/report”, event invitations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55 North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100% focused on the quantum stack; positions as a dedicated quantum fund.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LinkedIn reach + event sponsorships; selective search on brand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“Europe leads quantum commercialisation”, “fund announcements”, “portfolio wins”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QAI Ventures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Global VC + ecosystem builder across quantum tech/QuantumAI/advanced computing.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runs paid to accelerators/events and ecosystem programs; ABM for corporates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“Apply to accelerator”, “industry cluster programme”, “ecosystem membership”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QDNL Participations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Bridge from grant phase to venture; early-stage quantum fund.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light paid; community/event-first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“Bridge funding gap”, “ecosystem building”, “new fund close”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Table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 (Rows 2/3)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Comparable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paid media posture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Vsquared Ventures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Pan-European deep tech; highlights early quantum investments.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LinkedIn content amplification; occasional display for reports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“Generational Growth Themes”, “new fund”, “portfolio milestone”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Playground Global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Frontier/deep tech; explicitly references quantum computing as “next gen compute”.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Often content-led; could use paid to distribute portfolio narratives and reports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“Next gen compute”, “breakthrough science → companies”, “portfolio story”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DCVC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Deep tech VC; publishes “Deep Tech Opportunities” content.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uses paid to distribute flagship reports and capture emails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“Download report”, “industrial renaissance themes”, report snippets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Lux Capital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Early-stage science/tech; explicit quantum investments.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PR-led + selective paid boosts; heavy podcast presence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“Investing in breakthrough science”, “portfolio breakthroughs”, podcast clips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Table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 (Rows 3/3)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Comparable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Positioning (from public messaging)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paid media posture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examples that tend to work for this class of VC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IQ Capital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European deep tech VC.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LinkedIn always-on (hiring + portfolio)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“Deep tech in Europe”, “portfolio funding announcements”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Amadeus Capital Partners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Invests in AI, quantum, advanced computing.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Likely LinkedIn/industry publication sponsorship; retargeting for content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“Quantum networking milestone”, “commercial applications”</a:t>
                      </a:r>
                      <a:endParaRPr lang="en-US" sz="9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Competitive landscape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Competitive advantage implication for Firgun: many comparables skew earlier-stage or broader deep tech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can differentiate in paid by owning the “Series A/B quantum scaling partner” keyword space and by offering highly practical Series A/B-specific content (pilots → revenue, scaling teams, defensible IP narratives).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 strategy, budgets, KPIs, and expected CPL ranges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channel principles (for this specific VC category)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1. Volume is low; quality is everything. Optimise toward “qualified meeting” and “fit score”, not raw lead volume.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2. ABM outperform broad targeting for LPs and late-stage founders; build named lists.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3. Always-on retargeting converts the trust-building cycle (podcast → site → enquiry).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4. Consent and compliance materially affect match rates in EEA/UK; measurement strategy must be planned upfront (see Measurement section).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Budget allocation by phase (recommended)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Phase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Monthly budget range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goal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Spend split (directional)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Early (months 1–3)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£10k–£25k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Build measurement + prove CPL/CQMs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 25–35%, LinkedIn 35–45%, YouTube 5–15%, retargeting 10–15%, experiments (Reddit/X) 5–10%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Growth (months 4–9)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£25k–£60k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 winners + add ABM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 20–30%, LinkedIn 30–40%, YouTube 10–20%, programmatic ABM 10–20%, retargeting 10–15%, experiments 5–10%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 (months 10–12+)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£60k–£150k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Always-on + sponsorships + events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Search 15–25%, LinkedIn 25–35%, YouTube 15–25%, programmatic ABM 15–25%, podcasts/events 10–20%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and performance assumptions used for CPL/CPA ranges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These ranges are planning benchmarks that must be validated in Firgun’s first 30–60 days.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They draw on widely used benchmark sources (noting that many are aggregated agency datasets, not platform-guaranteed).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Google Search overall benchmarks (all industries): average CPL and conversion rates published by industry benchmark providers (e.g., WordStream) show 2024 overall avg conversion rate ~6.96% and 2025 overall avg CPL ~$70.11.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Finance &amp; Insurance search conversion rate is often materially lower than average in benchmarks (e.g., WordStream indicates Finance &amp; Insurance among the lowest conversion rates at ~2.55% in 2025).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and performance assumptions used for CPL/CPA ranges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LinkedIn benchmarks vary widely; a 2025 benchmark compilation reports median CTR ~0.52%, CPC ~$3.94, CPM ~$31–$38 and lead form conversion rates ~6–10% (directional, not official).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Podcast CPMs are commonly cited around $15–$30 (pre-recorded) and ~$25–$40 (host-read) by podcast platforms/sellers.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YouTube CPM benchmarks by format are often cited in the ~$5–$10 range for skippable in-stream (directional).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table below is designed to be operational: campaign types, targeting, bidding, creative, landing pages, KPIs, and expected cost ranges under the assumptions above.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1/2 | Rows 1/4)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Best-fit objectives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types to run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Targeting approach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Bidding &amp; optimisation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Search (Google)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Dealflow, talent, limited LP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Brand, non-brand intent, competitor/alternatives, event speaker keywords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High-intent keywords (Series A/B + quantum + funding), brand defence; geo to hubs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Start Manual CPC / Max Clicks w/ caps → move to Max Conversions once ≥30 conversions/30d; use offline conversion imports later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Display (GDN) + retargeting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Brand recall, nurture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Site retargeting, contextual placements, custom segments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Retarget podcast/news visitors; contextual quantum/tech sites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Optimise to landing page view first, then lead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YouTube (YouTube)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Brand authority, community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Video reach, skippable in-stream, bumper, demand gen to site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Custom intent (quantum topics), placements on quantum/AI channels, retarget visitors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CPM/CPV bidding; optimise to completed views or engaged views; shift to demand gen once landing pages are in place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1/2 | Rows 2/4)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Best-fit objectives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types to run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Targeting approach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Bidding &amp; optimisation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(LinkedIn)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Dealflow, LP ABM, talent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Sponsored content, document ads, lead gen forms, conversation ads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Job title + seniority + company lists (ABM); skills (quantum, photonics, cryptography)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Start with lead-gen objective for LP/founders; optimise by form completion; layer offline qualification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X/Twitter (X)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Community, awareness, event amplification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Follower campaigns, website clicks, video views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Interest/keyword targeting; follower lookalikes of quantum news accounts; event hashtags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Optimise to engaged clicks; cap frequency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Facebook/Instagram (Meta)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Retargeting, community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Retargeting, video views, lead forms (newsletter)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Strictly retarget site visitors and lookalikes from engaged audiences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Optimise to leads/newsletter signups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1/2 | Rows 3/4)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Best-fit objectives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types to run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Targeting approach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Bidding &amp; optimisation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Reddit (Reddit)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 pipeline, community trust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Interest + subreddit targeting, conversation-style ads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 quantum/AI subreddits; keyword targeting; promote AMAs + technical explainers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Optimise to landing page view first; then leads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Podcasts (paid sponsorships)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Brand authority, LP adjacency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Host-read, baked-in, newsletter swaps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 quantum, deep tech, institutional investor podcasts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CPM-based buys; evaluate by lift in branded search + direct traffic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Programmatic ABM (DSP)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LP ABM + late-stage founder ABM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Account-based display/video, site retargeting, contextual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Named account lists, firmographics, conference attendee lists (where contracted)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vCPM optimisation + frequency caps; measure via lift + pipeline influence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1/2 | Rows 4/4)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Best-fit objectives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types to run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Targeting approach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Bidding &amp; optimisation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Events (paid distribution + sponsorship)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Credibility, ecosystem, dealflow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 sponsorship + paid social amplification + remarketing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Focus on where Firgun already appears (quantum conferences, universities, industry panels)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Optimise to registrations and post-event meetings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2/2 | Rows 1/4)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that works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landing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KPI focus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Expected CPL/CPA range (GBP)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Search (Google)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“Series A/B quantum scaling partner”, “bridge the gap”, proof points (portfolio, advisors)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/founders or /careers; avoid generic homepage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CTR, CVR, cost per qualified meeting (CQM)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Founders: £80–£300; Talent: £30–£150; LP: typically £300–£1,500 (low volume; compliance constraints)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Display (GDN) + retargeting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 clip frames, quote cards, founder-friendly “what we look for”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/insights and /founders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Frequency, view-through lift, assisted conversions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£150–£600 (primarily assisted; judge by lift)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YouTube (YouTube)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15–30s “Founder: scaling quantum”, 6s bumpers, event speaker promos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/podcast, /insights, /events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VTR, CPV, incremental branded search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Newsletter CPL equivalent: £5–£25; Founder lead assist: £200–£800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2/2 | Rows 2/4)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that works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landing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KPI focus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Expected CPL/CPA range (GBP)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(LinkedIn)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Founder: “Series A/B readiness checklist”; LP: “Quantum market note” (gated, compliance)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/founders + lead forms; gated /investors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CTR, CPL, meeting rate, lead quality score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Founders: £200–£700; LP ABM: £400–£2,000; Talent: £80–£300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X/Twitter (X)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Short POV clips from founders/advisors; “what matters in quantum” snippets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/podcast / /news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Engagement rate, site quality sessions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£50–£250 (newsletter/community); founder assist £200–£800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Facebook/Instagram (Meta)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 reels, event promos, founder-friendly explainer carousels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/podcast / /newsletter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CPL (newsletter), frequency, assisted conversions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Newsletter: £3–£20; founder assist: £200–£900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2/2 | Rows 3/4)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that works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landing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KPI focus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Expected CPL/CPA range (GBP)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Reddit (Reddit)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“AMA with a quantum investor” / “Series A/B scaling pitfalls” in native tone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/insights or dedicated AMA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CTR, engaged time, cheap qualified visits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£60–£300 (traffic); £150–£600 (leads)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Podcasts (paid sponsorships)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30–60s host read with credibility hook + clear CTA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vanity URL landing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Reach, branded search lift, assisted conversions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CPM typically ~$15–$30 prerecorded; ~$25–$40 host-read (convert to £).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Programmatic ABM (DSP)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High-credibility static + short video; “request materials”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Gated /investors + /founders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Coverage (reach % of target accounts), lift, meetings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LP: £600–£2,500; founders: £250–£1,000 (pipeline influence)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 (Cols 2/2 | Rows 4/4)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463040"/>
                <a:gridCol w="2331720"/>
                <a:gridCol w="2331720"/>
                <a:gridCol w="2331720"/>
                <a:gridCol w="233172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Channel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that works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Best landing page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KPI focus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Expected CPL/CPA range (GBP)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Events (paid distribution + sponsorship)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“Meet us at [event]”, speaker clips, recaps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/events + post-event recap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Registrations, meeting set rate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Highly variable; treat as CAC-to-meeting, not CPL</a:t>
                      </a:r>
                      <a:endParaRPr lang="en-US" sz="8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Channel strategy, budgets, KPIs, and expected CPL ranges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Channel-by-channel recommendations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Why LP paid needs special handling: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Firgun’s site disclaimer emphasises the website is informational, directed to professional/institutional/sophisticated investors, and is not an offer/solicitation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investor materials are to be provided separately to qualified persons. This must be mirrored in LP landing pages and ad copy framing.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Measurement, tracking, attribution, and reporting cadence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Measurement, tracking, attribution, and reporting cadence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already has a mature legal/cookie framework (Cookie Policy and consent tooling are explicitly described, including consent renewal windows), which is a strong foundation—but paid performance will depend on how well conversion tracking survives consent loss.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Conversion events to implement (minimum viable set)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Implement events at three layers: platform, analytics, and CRM.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Primary (bottom-funnel, “hard”) conversions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Contact form submit with “Type = Startup” (qualified founder enquiry)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Contact form submit with “Type = LP” (allocator enquiry)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Calendar booking completion (if added)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Investor gated access request (eligibility acknowledged)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Conversion events to implement (minimum viable set)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Secondary (mid-funnel, “soft”) conversions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Newsletter signup (Firgun has a newsletter link sitewide)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Podcast click-outs / follows (build retargeting pools)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Event registration and post-event “request meeting” actions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GA4 event naming Use GA4 recommended event generate_lead for lead actions (form submits), with parameters for lead_type (startup/lp/partner), and separately log newsletter signups.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GA4 explicitly documents generate_lead as the recommended lead-gen event.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Tagging &amp; consent architecture (EEA/UK reality)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 a CMP-driven consent model (Firgun references consent records and controls in its cookie policy).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Implement Google Consent Mode via Tag Manager and integrate with the CMP. Google Tag Manager documentation outlines basic vs advanced consent mode implementation and the need for a consent mechanism first.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For retargeting and conversion tracking, expect lower match rates if users deny marketing cookies; plan reporting around modelled conversions and CRM-confirmed outcomes rather than pixel-only conversion counts.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Platform pixels and conversion tracking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LinkedIn Insight Tag + conversion rules (LinkedIn documents Insight Tag conversion setup in Campaign Manager).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Meta Pixel standard event “Lead” for form submits (Meta defines “Lead” as information submission with expectation of follow-up).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Google Ads conversion actions created either via GA4 import or Google tag/Tag Manager; Google Ads Help documents the conversion setup flow.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Attribution model (practical for VC)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For VC websites, “last click” is misleading because trust-building often happens across sessions and channels.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Recommended model stack: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GA4 data-driven attribution for directional channel value (where data volume allows).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Platform attribution for optimisation loops (especially LinkedIn lead gen forms).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CRM-based attribution for “Qualified Meeting → IC-reviewed → deal/commitment” stages, using offline conversion imports where feasible (especially for Search/LinkedIn).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UTM taxonomy (standardise from day one)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 a strict taxonomy to support multi-touch reporting and future automation.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UTM taxonomy (standardise from day one)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16736"/>
            <a:ext cx="10771632" cy="4974336"/>
          </a:xfrm>
          <a:prstGeom prst="roundRect">
            <a:avLst>
              <a:gd name="adj" fmla="val 91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17904"/>
            <a:ext cx="73152" cy="4572000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40112" cy="431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utm_source=google | linkedin | youtube | x | meta | reddit | programmatic | podcast | event_partner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utm_medium=cpc | paid_social | paid_video | display | sponsorship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utm_campaign={objective}_{audience}_{geo}_{quarter}_{theme}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utm_content={format}_{hook}_{variant}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utm_term={keyword_or_audience}</a:t>
            </a:r>
            <a:endParaRPr lang="en-US" sz="12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Measurement, tracking, attribution, and reporting cadence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cadence (what to review when)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Daily (10 min): spend pacing, broken tracking, frequency spikes, search term hygiene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Weekly (60–90 min): CPL/CQM by channel, lead quality review with stakeholders, creative fatigue, landing page CVR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Monthly: mix modelling (assisted conversions), cohort conversion rates, pipeline influence, next-quarter test backlog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Creative and messaging frameworks by audience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Report Content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Creative and messaging frameworks by audience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Firgun’s brand narrative already has strong “hooks” that should be translated into paid creative: Series A/B quantum scaling specialist bridge the funding gap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backed by deep expertise and a global advisory network and values/inclusion signals (including signatory language on the site).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Messaging pillars (reusable across channels)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Pillar A — Stage clarity: “Series A/B quantum scale-ups (not generic deep tech)” Pillar B — Commercialisation help: “From pilots to repeatable revenue / scaling roadmap” (align with Firgun’s Series A/B criteria framing).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Pillar C — Credibility proof: partner bios, track record signals, professional investor orientation.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Pillar D — Ecosystem leadership: podcast + speaking engagements → “we convene the ecosystem”.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Founder creative framework (examples you can deploy immediately)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Angles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“Are you truly Series A-ready?” (checklist)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“What quantum Series B investors underwrite” (benchmark note)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“Scaling a quantum team beyond academic origin” (hiring/productisation angle; align with FAQ expectations)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Formats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LinkedIn document ad: “Quantum Series A/B Scaling Checklist (10 slides)”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Founder creative framework (examples you can deploy immediately)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YouTube 15s: “What Firgun looks for at Series A/B” (with credibility lower-third)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Search RSA: “Quantum Series A/B Funding Partner | Global | Hands-on”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Founder CTA hierarchy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1. “Book fit call”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2. “Send deck securely”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3. “Subscribe to scaling insights”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 creative framework (compliance-first)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Non-negotiable framing: corporate brand and insights, not inducement eligibility gating on landing pages mirror Firgun disclaimer posture.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Angles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“Why Series A/B is the quantum bottleneck” (thesis)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“Market sizing / deployment readiness” (use reputable macro sources supporting quantum value thesis—e.g., McKinsey and BCG)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“Portfolio access + ecosystem advantage” (high-level, non-promotional)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LP CTAs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LP creative framework (compliance-first)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“Request investor materials (professional investors)”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“Meet Firgun at [event]” (drives controlled conversations)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Talent creative framework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Firgun’s team pages highlight founder/operator background and domain expertise—use this to recruit specialists who want mission + credibility.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LinkedIn: “Build the quantum scale-up era” (role-specific)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Search: “Quantum VC roles London” (brand + role keywords)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and messaging frameworks by audience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Ecosystem partner creative framework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 partnership outcomes rather than vague “network” claims: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“Co-host a quantum scale-up session”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“Invite Firgun speakers / podcast crossover”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749808" y="1371600"/>
            <a:ext cx="2788920" cy="4160520"/>
          </a:xfrm>
          <a:prstGeom prst="roundRect">
            <a:avLst>
              <a:gd name="adj" fmla="val 1639"/>
            </a:avLst>
          </a:prstGeom>
          <a:solidFill>
            <a:srgbClr val="0C0C0C"/>
          </a:solidFill>
          <a:ln w="12700">
            <a:solidFill>
              <a:srgbClr val="0C0C0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572768"/>
            <a:ext cx="73152" cy="375818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3063240"/>
            <a:ext cx="82296" cy="82296"/>
          </a:xfrm>
          <a:prstGeom prst="ellipse">
            <a:avLst/>
          </a:prstGeom>
          <a:solidFill>
            <a:srgbClr val="C3CFC5">
              <a:alpha val="2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03020" y="3063240"/>
            <a:ext cx="82296" cy="82296"/>
          </a:xfrm>
          <a:prstGeom prst="ellipse">
            <a:avLst/>
          </a:prstGeom>
          <a:solidFill>
            <a:srgbClr val="C3CFC5">
              <a:alpha val="2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35608" y="3063240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68196" y="3063240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00784" y="3063240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33372" y="3063240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70432" y="3195828"/>
            <a:ext cx="82296" cy="82296"/>
          </a:xfrm>
          <a:prstGeom prst="ellipse">
            <a:avLst/>
          </a:prstGeom>
          <a:solidFill>
            <a:srgbClr val="C3CFC5">
              <a:alpha val="2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03020" y="3195828"/>
            <a:ext cx="82296" cy="82296"/>
          </a:xfrm>
          <a:prstGeom prst="ellipse">
            <a:avLst/>
          </a:prstGeom>
          <a:solidFill>
            <a:srgbClr val="C3CFC5">
              <a:alpha val="2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5608" y="3195828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68196" y="3195828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00784" y="3195828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33372" y="3195828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" y="3328416"/>
            <a:ext cx="82296" cy="82296"/>
          </a:xfrm>
          <a:prstGeom prst="ellipse">
            <a:avLst/>
          </a:prstGeom>
          <a:solidFill>
            <a:srgbClr val="C3CFC5">
              <a:alpha val="2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03020" y="3328416"/>
            <a:ext cx="82296" cy="82296"/>
          </a:xfrm>
          <a:prstGeom prst="ellipse">
            <a:avLst/>
          </a:prstGeom>
          <a:solidFill>
            <a:srgbClr val="C3CFC5">
              <a:alpha val="1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35608" y="3328416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68196" y="3328416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00784" y="3328416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33372" y="3328416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70432" y="3461004"/>
            <a:ext cx="82296" cy="82296"/>
          </a:xfrm>
          <a:prstGeom prst="ellipse">
            <a:avLst/>
          </a:prstGeom>
          <a:solidFill>
            <a:srgbClr val="C3CFC5">
              <a:alpha val="1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03020" y="3461004"/>
            <a:ext cx="82296" cy="82296"/>
          </a:xfrm>
          <a:prstGeom prst="ellipse">
            <a:avLst/>
          </a:prstGeom>
          <a:solidFill>
            <a:srgbClr val="C3CFC5">
              <a:alpha val="1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35608" y="3461004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68196" y="3461004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00784" y="3461004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33372" y="3461004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70432" y="3593592"/>
            <a:ext cx="82296" cy="82296"/>
          </a:xfrm>
          <a:prstGeom prst="ellipse">
            <a:avLst/>
          </a:prstGeom>
          <a:solidFill>
            <a:srgbClr val="C3CFC5">
              <a:alpha val="1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03020" y="3593592"/>
            <a:ext cx="82296" cy="82296"/>
          </a:xfrm>
          <a:prstGeom prst="ellipse">
            <a:avLst/>
          </a:prstGeom>
          <a:solidFill>
            <a:srgbClr val="C3CFC5">
              <a:alpha val="10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35608" y="3593592"/>
            <a:ext cx="82296" cy="82296"/>
          </a:xfrm>
          <a:prstGeom prst="ellipse">
            <a:avLst/>
          </a:prstGeom>
          <a:solidFill>
            <a:srgbClr val="C3CFC5">
              <a:alpha val="8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68196" y="3593592"/>
            <a:ext cx="82296" cy="82296"/>
          </a:xfrm>
          <a:prstGeom prst="ellipse">
            <a:avLst/>
          </a:prstGeom>
          <a:solidFill>
            <a:srgbClr val="C3CFC5">
              <a:alpha val="6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0784" y="3593592"/>
            <a:ext cx="82296" cy="82296"/>
          </a:xfrm>
          <a:prstGeom prst="ellipse">
            <a:avLst/>
          </a:prstGeom>
          <a:solidFill>
            <a:srgbClr val="C3CFC5">
              <a:alpha val="4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33372" y="3593592"/>
            <a:ext cx="82296" cy="82296"/>
          </a:xfrm>
          <a:prstGeom prst="ellipse">
            <a:avLst/>
          </a:prstGeom>
          <a:solidFill>
            <a:srgbClr val="C3CFC5">
              <a:alpha val="2000"/>
            </a:srgbClr>
          </a:solidFill>
          <a:ln w="12700">
            <a:solidFill>
              <a:srgbClr val="C3CFC5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7552" y="16824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1DDD4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Section Break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78224" y="1993392"/>
            <a:ext cx="6629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Ninety-day launch plan, experiments, optimisation rules, and compliance</a:t>
            </a:r>
            <a:endParaRPr lang="en-US" sz="2900" dirty="0"/>
          </a:p>
        </p:txBody>
      </p:sp>
      <p:sp>
        <p:nvSpPr>
          <p:cNvPr id="44" name="Text 42"/>
          <p:cNvSpPr/>
          <p:nvPr/>
        </p:nvSpPr>
        <p:spPr>
          <a:xfrm>
            <a:off x="4078224" y="340156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 visual identity applied across typography, palette, framing, and graphic accents.</a:t>
            </a:r>
            <a:endParaRPr lang="en-US" sz="1220" dirty="0"/>
          </a:p>
        </p:txBody>
      </p:sp>
      <p:sp>
        <p:nvSpPr>
          <p:cNvPr id="45" name="Shape 43"/>
          <p:cNvSpPr/>
          <p:nvPr/>
        </p:nvSpPr>
        <p:spPr>
          <a:xfrm>
            <a:off x="4078224" y="1609344"/>
            <a:ext cx="2468880" cy="0"/>
          </a:xfrm>
          <a:prstGeom prst="line">
            <a:avLst/>
          </a:prstGeom>
          <a:noFill/>
          <a:ln w="15240">
            <a:solidFill>
              <a:srgbClr val="7E9F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78224" y="63276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87552" y="50840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Structure as a frame; leaving room to breathe.</a:t>
            </a:r>
            <a:endParaRPr lang="en-US" sz="92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90-day timeline (Gantt) (Rows 1/3)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Phase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Task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Start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Duration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Foundations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Measurement design (events, UTMs, CRM fields)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2026-04-08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Foundations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CMP + consent mode + tag audit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2026-04-08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Foundations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Landing pages (founders/insights/events)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2026-04-12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build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kit v1 (founders, podcast, events)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2026-04-15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Campaign build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Account structure + tracking QA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2026-04-18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90-day timeline (Gantt) (Rows 2/3)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Phase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Task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Start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Duration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Launch and learn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Search launch (brand + non-brand)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2026-04-25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60d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Launch and learn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 launch (founders + ABM test)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2026-04-28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55d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Launch and learn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YouTube reach + retargeting launch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2026-05-05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Launch and learn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Retargeting (display + paid social)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2026-05-05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Expansion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Reddit pilot (founder community)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2026-05-20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35d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90-day timeline (Gantt) (Rows 3/3)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Phase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Task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Start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Duration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Expansion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Programmatic ABM pilot (LP + late-stage founders)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2026-06-01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Expansion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 sponsorship test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2026-06-10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25d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 decisions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Creative refresh + winners scale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2026-06-20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18d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Scale decisions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90-day review (CQM, pipeline influence, roadmap)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2026-07-05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5d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Suggested A/B tests (with success criteria)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Tests are prioritised for fastest learning per £ spent.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Suggested A/B tests (with success criteria) (Rows 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Hypothesis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metric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Success criterion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 landing page: “Book call” vs “Send deck”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Lower friction increases qualified conversions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Qualified meeting rate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+20% CQM at same or lower CPL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Founder messaging: “Series A/B scaling partner” vs “bridge funding gap”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Stage-specific clarity improves CVR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CVR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+15% CVR on Search + LinkedIn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LinkedIn: Lead Gen Form vs website conversion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Lead form reduces drop-off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CPL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-20% CPL at ≥same lead quality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YouTube: 6s bumper vs 15s skippable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Shorter format improves reach efficiency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CPM / VTR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+25% reach at same budget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Retargeting frequency cap: 3/wk vs 7/wk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Lower frequency reduces fatigue and improves assisted CVR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Assisted conversions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Higher assisted CVR with stable reach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Suggested A/B tests (with success criteria) (Rows 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298448"/>
            <a:ext cx="10771632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499616"/>
            <a:ext cx="73152" cy="4626864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" y="1554480"/>
          <a:ext cx="10369296" cy="4462272"/>
        </p:xfrm>
        <a:graphic>
          <a:graphicData uri="http://schemas.openxmlformats.org/drawingml/2006/table">
            <a:tbl>
              <a:tblPr/>
              <a:tblGrid>
                <a:gridCol w="1554480"/>
                <a:gridCol w="3108960"/>
                <a:gridCol w="310896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Hypothesis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Primary metric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Success criterion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LP gating: single-step eligibility checkbox vs multi-step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Simpler gating improves completion without compliance loss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Completion rate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+15% completion; 0 compliance breaches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Podcast CTA: “subscribe” vs “download note”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Specific offers increase attributable actions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Direct traffic / branded search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C0C0C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+10% branded search lift</a:t>
                      </a:r>
                      <a:endParaRPr lang="en-US" sz="10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F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Suggested A/B tests (with success criteria)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Where available, benchmark sanity checks can use published medians (e.g., LinkedIn CTR around ~0.5% in one benchmark compilation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use as directional guardrail, not a hard target).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Optimisation rules (to avoid overfitting and false winners)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Do not switch to automated bidding until you have stable conversion integrity and enough volume (rule of thumb: ≥30 conversions per 30 days per campaign).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Scale budgets gradually: +20% every 3–5 days on winning ad sets; stop if CPL increases &gt;25% without a corresponding increase in lead quality.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Search hygiene weekly: exclude irrelevant “quantum jobs” / “quantum course” terms from founder campaigns; split “jobs” into talent-only ad groups.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Creative refresh cadence: every 14–21 days for paid social/video to prevent fatigue in small audiences.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Risk/constraints and compliance considerations (1/3)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Financial promotions / investor marketing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Firgun’s legal disclaimer states the website is not an offer or solicitation and is directed to professional/institutional/sophisticated investors; LP paid media must align with this posture and use gated access for investor materials.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In the UK, FCA rules require communications/financial promotions to be fair, clear and not misleading.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FCA guidance for financial promotions on social media highlights challenges where key information may be truncated/obscured; use this as a design constraint for LP-facing ads (i.e., avoid “too-short-to-comply” formats for anything that could be construed as a promotion).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Privacy, cookies, and tracking (UK/EU)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Risk/constraints and compliance considerations (2/3)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UK cookie rules (PECR) require clear, specific consent for more privacy-intrusive cookies such as behavioural tracking, per the UK regulator’s guidance.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European Data Protection Board has explicitly addressed tracking techniques (including pixels/links) within the ePrivacy scope, reinforcing that “not just cookies” are in scope for consent obligations.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Google’s consent mode implementation is operationally important for measurement in EEA contexts; Google provides technical guidance via Tag Manager and developer docs.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Market constraints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The pure-play quantum company universe is small (hundreds globally), making over-targeting and high frequency a real risk; you must cap frequency and expand via contextual/content rather than pure audience repetition.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Risk/constraints and compliance considerations (3/3)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Brand safety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Quantum and defence-related content adjacency can be sensitive; apply inventory controls (e.g., exclusions, topic controls) especially on programmatic/video.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“success” should look like at day 90 (1/2)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E9F80"/>
          </a:solidFill>
          <a:ln w="12700">
            <a:solidFill>
              <a:srgbClr val="7E9F8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Because paid in VC is primarily a pipeline influence tool, day-90 success should be defined by both performance and infrastructure: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1. Tracking integrity achieved: clean conversion event taxonomy, UTMs, and platform tags working under consent constraints.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2. Proven acquisition loops: at least one repeatable founder acquisition route (usually Search + LinkedIn retargeting) producing qualified meetings at a tolerable cost range.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3. Community distribution engine: podcast/event content consistently building retargeting pools and reducing marginal CPL.</a:t>
            </a:r>
            <a:endParaRPr lang="en-US" sz="1470" dirty="0"/>
          </a:p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4. Compliance-safe LP motion defined: gated LP landing path + ABM list + clear review workflow consistent with Firgun’s disclaimers and FCA standards.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DEA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AE4"/>
          </a:solidFill>
          <a:ln w="12700">
            <a:solidFill>
              <a:srgbClr val="EDEAE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6382512"/>
            <a:ext cx="11173968" cy="0"/>
          </a:xfrm>
          <a:prstGeom prst="line">
            <a:avLst/>
          </a:prstGeom>
          <a:noFill/>
          <a:ln w="6350">
            <a:solidFill>
              <a:srgbClr val="C3CFC5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86032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85248" y="329184"/>
            <a:ext cx="0" cy="6053328"/>
          </a:xfrm>
          <a:prstGeom prst="line">
            <a:avLst/>
          </a:prstGeom>
          <a:noFill/>
          <a:ln w="4445">
            <a:solidFill>
              <a:srgbClr val="C3CFC5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08592" y="457200"/>
            <a:ext cx="64008" cy="64008"/>
          </a:xfrm>
          <a:prstGeom prst="ellipse">
            <a:avLst/>
          </a:prstGeom>
          <a:solidFill>
            <a:srgbClr val="4B5F4C">
              <a:alpha val="2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18320" y="457200"/>
            <a:ext cx="64008" cy="64008"/>
          </a:xfrm>
          <a:prstGeom prst="ellipse">
            <a:avLst/>
          </a:prstGeom>
          <a:solidFill>
            <a:srgbClr val="4B5F4C">
              <a:alpha val="2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8048" y="457200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37776" y="457200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08592" y="566928"/>
            <a:ext cx="64008" cy="64008"/>
          </a:xfrm>
          <a:prstGeom prst="ellipse">
            <a:avLst/>
          </a:prstGeom>
          <a:solidFill>
            <a:srgbClr val="4B5F4C">
              <a:alpha val="2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18320" y="566928"/>
            <a:ext cx="64008" cy="64008"/>
          </a:xfrm>
          <a:prstGeom prst="ellipse">
            <a:avLst/>
          </a:prstGeom>
          <a:solidFill>
            <a:srgbClr val="4B5F4C">
              <a:alpha val="22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28048" y="566928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37776" y="566928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08592" y="676656"/>
            <a:ext cx="64008" cy="64008"/>
          </a:xfrm>
          <a:prstGeom prst="ellipse">
            <a:avLst/>
          </a:prstGeom>
          <a:solidFill>
            <a:srgbClr val="4B5F4C">
              <a:alpha val="20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676656"/>
            <a:ext cx="64008" cy="64008"/>
          </a:xfrm>
          <a:prstGeom prst="ellipse">
            <a:avLst/>
          </a:prstGeom>
          <a:solidFill>
            <a:srgbClr val="4B5F4C">
              <a:alpha val="18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28048" y="676656"/>
            <a:ext cx="64008" cy="64008"/>
          </a:xfrm>
          <a:prstGeom prst="ellipse">
            <a:avLst/>
          </a:prstGeom>
          <a:solidFill>
            <a:srgbClr val="4B5F4C">
              <a:alpha val="16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676656"/>
            <a:ext cx="64008" cy="64008"/>
          </a:xfrm>
          <a:prstGeom prst="ellipse">
            <a:avLst/>
          </a:prstGeom>
          <a:solidFill>
            <a:srgbClr val="4B5F4C">
              <a:alpha val="14000"/>
            </a:srgbClr>
          </a:solidFill>
          <a:ln w="12700">
            <a:solidFill>
              <a:srgbClr val="4B5F4C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22992" y="402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FIRGUN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22992" y="54864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ventures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94360" y="512064"/>
            <a:ext cx="5212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B5F4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Ninety-day launch plan, experiments, optimisation rules, and compliance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749808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C0C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“success” should look like at day 90 (2/2)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94360" y="1060704"/>
            <a:ext cx="3063240" cy="0"/>
          </a:xfrm>
          <a:prstGeom prst="line">
            <a:avLst/>
          </a:prstGeom>
          <a:noFill/>
          <a:ln w="15875">
            <a:solidFill>
              <a:srgbClr val="7E9F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45566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47C76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Source: deep-research-report.md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13232" y="1335024"/>
            <a:ext cx="10771632" cy="4965192"/>
          </a:xfrm>
          <a:prstGeom prst="roundRect">
            <a:avLst>
              <a:gd name="adj" fmla="val 921"/>
            </a:avLst>
          </a:prstGeom>
          <a:solidFill>
            <a:srgbClr val="FFFFFF"/>
          </a:solidFill>
          <a:ln w="12700">
            <a:solidFill>
              <a:srgbClr val="C3CF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" y="1536192"/>
            <a:ext cx="73152" cy="4562856"/>
          </a:xfrm>
          <a:prstGeom prst="rect">
            <a:avLst/>
          </a:prstGeom>
          <a:solidFill>
            <a:srgbClr val="747C76"/>
          </a:solidFill>
          <a:ln w="12700">
            <a:solidFill>
              <a:srgbClr val="747C7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1591056"/>
            <a:ext cx="10021824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•"/>
            </a:pPr>
            <a:r>
              <a:rPr lang="en-US" sz="1470" dirty="0">
                <a:solidFill>
                  <a:srgbClr val="0C0C0C"/>
                </a:solidFill>
                <a:latin typeface="Courier Prime" pitchFamily="34" charset="0"/>
                <a:ea typeface="Courier Prime" pitchFamily="34" charset="-122"/>
                <a:cs typeface="Courier Prime" pitchFamily="34" charset="-120"/>
              </a:rPr>
              <a:t>5. Clear scale decision: evidence-based recommendation on whether to (a) scale ABM/programmatic, (b) add podcast sponsorships, (c) stay lean and focus on Search + LinkedIn.</a:t>
            </a:r>
            <a:endParaRPr lang="en-US" sz="1470" dirty="0"/>
          </a:p>
        </p:txBody>
      </p:sp>
      <p:sp>
        <p:nvSpPr>
          <p:cNvPr id="29" name="Shape 27"/>
          <p:cNvSpPr/>
          <p:nvPr/>
        </p:nvSpPr>
        <p:spPr>
          <a:xfrm>
            <a:off x="1042416" y="1444752"/>
            <a:ext cx="1097280" cy="0"/>
          </a:xfrm>
          <a:prstGeom prst="line">
            <a:avLst/>
          </a:prstGeom>
          <a:noFill/>
          <a:ln w="10160">
            <a:solidFill>
              <a:srgbClr val="0C0C0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Prim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Paid media strategy for Firgun</dc:title>
  <dc:subject>Paid media strategy for Firgun</dc:subject>
  <dc:creator>OpenAI Codex</dc:creator>
  <cp:lastModifiedBy>OpenAI Codex</cp:lastModifiedBy>
  <cp:revision>1</cp:revision>
  <dcterms:created xsi:type="dcterms:W3CDTF">2026-04-06T09:16:28Z</dcterms:created>
  <dcterms:modified xsi:type="dcterms:W3CDTF">2026-04-06T09:16:28Z</dcterms:modified>
</cp:coreProperties>
</file>